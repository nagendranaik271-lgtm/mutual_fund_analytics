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pipeline, performance analytics &amp; investor insights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194560" cy="0"/>
          </a:xfrm>
          <a:prstGeom prst="line">
            <a:avLst/>
          </a:prstGeom>
          <a:noFill/>
          <a:ln w="31750">
            <a:solidFill>
              <a:srgbClr val="F9A8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·  August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ect">
            <a:avLst>
              <a:gd name="adj" fmla="val 1633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in India is fragmented across scheme masters, daily NAVs, investor transactions, and benchmark indices — making it hard to answer simple questions like </a:t>
            </a:r>
            <a:pPr indent="0" marL="0">
              <a:lnSpc>
                <a:spcPts val="2200"/>
              </a:lnSpc>
              <a:buNone/>
            </a:pPr>
            <a:r>
              <a:rPr lang="en-US" sz="1450" b="1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funds are actually worth holding, on a risk-adjusted basis?”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4480560"/>
          </a:xfrm>
          <a:prstGeom prst="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0" y="2331720"/>
            <a:ext cx="384048" cy="38404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2286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warehoused view of scheme, NAV, and transaction data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0" y="3172968"/>
            <a:ext cx="384048" cy="38404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31272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risk-adjusted performance (Sharpe, Sortino, alpha, beta, drawdown)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0" y="4014216"/>
            <a:ext cx="384048" cy="38404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014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0" y="39684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funds with a transparent, weighted composite scorecard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4855464"/>
            <a:ext cx="384048" cy="384048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855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480974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results as an interactive, filterable Power BI dashboard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286000"/>
          </a:xfrm>
          <a:prstGeom prst="rect">
            <a:avLst>
              <a:gd name="adj" fmla="val 3200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in the industry-wide fund master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fund houses tracked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51760" cy="2286000"/>
          </a:xfrm>
          <a:prstGeom prst="rect">
            <a:avLst>
              <a:gd name="adj" fmla="val 3200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records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May 2026, 40 schemes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51760" cy="2286000"/>
          </a:xfrm>
          <a:prstGeom prst="rect">
            <a:avLst>
              <a:gd name="adj" fmla="val 3200"/>
            </a:avLst>
          </a:prstGeom>
          <a:solidFill>
            <a:srgbClr val="F5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6364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₹352.16 Cr, Jan 2024 – May 2025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51760" cy="2286000"/>
          </a:xfrm>
          <a:prstGeom prst="rect">
            <a:avLst>
              <a:gd name="adj" fmla="val 3200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5256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with full performance instrumentation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5256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Sortino, alpha, beta, drawdown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layers: broad industry reference data (scheme master, AUM, SIP inflows, folios) for market-level trends, and a curated 40-scheme analytical sample for deep performance analytics.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extracts: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master, NAV,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benchmarks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70632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862072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62072" y="29718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scripts: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null/dup checks,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6592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92624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9A826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Warehouse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84064" y="29718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 + 3 fact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(bluestock_mf.db)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58584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14616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06056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06056" y="29718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notebooks: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performance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scorecard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80576" y="29718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36608" y="23774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528048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528048" y="297180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filters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drill-through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a standalone, re-runnable Python script — favouring transparency and auditability over premature automation.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120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schema.sql (star schema)  ·  queries.sql (10 canonical queries)  ·  database_load.py (SQLAlchemy loader)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 ·  PART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Market-Level Trends</a:t>
            </a:r>
            <a:endParaRPr lang="en-US" sz="3200" dirty="0"/>
          </a:p>
        </p:txBody>
      </p:sp>
      <p:pic>
        <p:nvPicPr>
          <p:cNvPr id="4" name="Image 0" descr="dash_images/pag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5806440" cy="3355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5010912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 — Power BI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₹62.74L Cr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213055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industry AUM — more than doubled since mid-2022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318211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All-time-high monthly SIP inflow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48640" y="423367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investor folios, growing steadily since 2022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SBI MF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48640" y="528523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AUM among the 10 fund houses tracked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 ·  PART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Base &amp; Behaviour</a:t>
            </a:r>
            <a:endParaRPr lang="en-US" sz="3200" dirty="0"/>
          </a:p>
        </p:txBody>
      </p:sp>
      <p:pic>
        <p:nvPicPr>
          <p:cNvPr id="4" name="Image 0" descr="charts/demographics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943600" cy="2734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709928"/>
            <a:ext cx="146304" cy="14630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6" name="Text 3"/>
          <p:cNvSpPr/>
          <p:nvPr/>
        </p:nvSpPr>
        <p:spPr>
          <a:xfrm>
            <a:off x="6995160" y="16367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95160" y="19842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monthly category inflow (₹32–42K Cr) — used as cash management, not growth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20840" y="2670048"/>
            <a:ext cx="146304" cy="14630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9" name="Text 6"/>
          <p:cNvSpPr/>
          <p:nvPr/>
        </p:nvSpPr>
        <p:spPr>
          <a:xfrm>
            <a:off x="6995160" y="25968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95160" y="29443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66.3% of transaction volume vs. 33.7% from B30 cities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20840" y="3630168"/>
            <a:ext cx="146304" cy="14630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35570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95160" y="39044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fully verified; 8.1% pending follow-up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20840" y="4590288"/>
            <a:ext cx="146304" cy="14630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5" name="Text 12"/>
          <p:cNvSpPr/>
          <p:nvPr/>
        </p:nvSpPr>
        <p:spPr>
          <a:xfrm>
            <a:off x="6995160" y="45171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mix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95160" y="4864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Net Banking, Cheque, Mandate each ~24–25%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 ·  PART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Return &amp; the Fund Scorecard</a:t>
            </a:r>
            <a:endParaRPr lang="en-US" sz="3200" dirty="0"/>
          </a:p>
        </p:txBody>
      </p:sp>
      <p:pic>
        <p:nvPicPr>
          <p:cNvPr id="4" name="Image 0" descr="charts/category_avg_ret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486400" cy="3172968"/>
          </a:xfrm>
          <a:prstGeom prst="rect">
            <a:avLst/>
          </a:prstGeom>
        </p:spPr>
      </p:pic>
      <p:pic>
        <p:nvPicPr>
          <p:cNvPr id="5" name="Image 1" descr="charts/fund_scorecard_top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486400" cy="31729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leads on 3-yr return (21.7%) but carries the highest risk; Gilt/Liquid anchor the low end.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Mid Cap Fund and HDFC Top 100 Fund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 the composite scorecard at 88.8/100, blending CAGR, Sharpe, alpha, cost, and drawdown.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 ·  PART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Efficiency &amp; Key Correlations</a:t>
            </a:r>
            <a:endParaRPr lang="en-US" sz="3200" dirty="0"/>
          </a:p>
        </p:txBody>
      </p:sp>
      <p:pic>
        <p:nvPicPr>
          <p:cNvPr id="4" name="Image 0" descr="charts/expense_vs_shar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577840" cy="3227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600200"/>
            <a:ext cx="5303520" cy="3291840"/>
          </a:xfrm>
          <a:prstGeom prst="rect">
            <a:avLst>
              <a:gd name="adj" fmla="val 2222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Snapshot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9400" y="2286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↔ 3-yr Return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21240" y="22860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5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25786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sensitivity is the strongest single driver of realised return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29400" y="3246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↔ Sharpe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921240" y="3246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5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−0.44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35387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Confounded by asset mix — debt funds are both cheaper and lower-vol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29400" y="4206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↔ 3-yr Return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21240" y="42062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5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29400" y="449884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causal — reflects equity funds costing more than debt funds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 ·  PART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Overview &amp; Fund Performance</a:t>
            </a:r>
            <a:endParaRPr lang="en-US" sz="3200" dirty="0"/>
          </a:p>
        </p:txBody>
      </p:sp>
      <p:pic>
        <p:nvPicPr>
          <p:cNvPr id="4" name="Image 0" descr="dash_images/pag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440680" cy="3145536"/>
          </a:xfrm>
          <a:prstGeom prst="rect">
            <a:avLst/>
          </a:prstGeom>
        </p:spPr>
      </p:pic>
      <p:pic>
        <p:nvPicPr>
          <p:cNvPr id="5" name="Image 1" descr="dash_images/page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440680" cy="31455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2803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263640" y="482803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 ·  PART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Investor Analytics &amp; SIP Trends</a:t>
            </a:r>
            <a:endParaRPr lang="en-US" sz="3200" dirty="0"/>
          </a:p>
        </p:txBody>
      </p:sp>
      <p:pic>
        <p:nvPicPr>
          <p:cNvPr id="4" name="Image 0" descr="dash_images/page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440680" cy="3145536"/>
          </a:xfrm>
          <a:prstGeom prst="rect">
            <a:avLst/>
          </a:prstGeom>
        </p:spPr>
      </p:pic>
      <p:pic>
        <p:nvPicPr>
          <p:cNvPr id="5" name="Image 1" descr="dash_images/page-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440680" cy="31455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2803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263640" y="482803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1848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more than doubled since 2022, with SIP inflows at an all-time high — the retail growth story is intact.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48716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closely tracks risk: beta explains most of the return spread across the 40-scheme sample (corr. +0.73).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35584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Mid Cap and HDFC Top 100 lead the composite scorecard, balancing return, risk, cost, and drawdown — not just chasing raw CAGR.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22452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base still skews male and T30-city, with SIP dominant by count but lumpsum dominant by value.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66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50932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40-scheme analytical sample is a strong proof of concept but should not be read as representative of the full 1,522-scheme market.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1828800" cy="0"/>
          </a:xfrm>
          <a:prstGeom prst="line">
            <a:avLst/>
          </a:prstGeom>
          <a:noFill/>
          <a:ln w="31750">
            <a:solidFill>
              <a:srgbClr val="F9A8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 ·  Questions &amp; Discussion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2026-08-12T01:30:56Z</dcterms:created>
  <dcterms:modified xsi:type="dcterms:W3CDTF">2026-08-12T01:30:56Z</dcterms:modified>
</cp:coreProperties>
</file>